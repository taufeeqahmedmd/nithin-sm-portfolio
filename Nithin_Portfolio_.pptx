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975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6E9"/>
          </a:solidFill>
          <a:ln w="12700">
            <a:solidFill>
              <a:srgbClr val="F5F6E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29400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10" dirty="0">
                <a:solidFill>
                  <a:srgbClr val="687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NITHIN CHAGAM REDDY  /  PORTFOLIO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64240" y="6629400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10" dirty="0">
                <a:solidFill>
                  <a:srgbClr val="6870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8706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629400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10" dirty="0">
                <a:solidFill>
                  <a:srgbClr val="9AA4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NITHIN CHAGAM REDDY  /  PORTFOLIO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064240" y="6629400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10" dirty="0">
                <a:solidFill>
                  <a:srgbClr val="9AA4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AA49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8706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-502920"/>
            <a:ext cx="4663440" cy="4663440"/>
          </a:xfrm>
          <a:prstGeom prst="ellipse">
            <a:avLst/>
          </a:prstGeom>
          <a:solidFill>
            <a:srgbClr val="DDF26A"/>
          </a:solidFill>
          <a:ln w="12700">
            <a:solidFill>
              <a:srgbClr val="DDF26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21792" y="621792"/>
            <a:ext cx="2286000" cy="292608"/>
          </a:xfrm>
          <a:prstGeom prst="roundRect">
            <a:avLst>
              <a:gd name="adj" fmla="val 37500"/>
            </a:avLst>
          </a:prstGeom>
          <a:solidFill>
            <a:srgbClr val="DDF26A"/>
          </a:solidFill>
          <a:ln w="12700">
            <a:solidFill>
              <a:srgbClr val="DDF26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31520" y="635508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110" dirty="0">
                <a:solidFill>
                  <a:srgbClr val="1115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PORTFOLIO  / 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35331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5F6E9"/>
                </a:solidFill>
                <a:latin typeface="Franklin Gothic Medium" panose="020B0603020102020204" pitchFamily="34" charset="0"/>
                <a:ea typeface="Inter Display" pitchFamily="34" charset="-122"/>
                <a:cs typeface="Inter Display" pitchFamily="34" charset="-120"/>
              </a:rPr>
              <a:t>CHAGAM</a:t>
            </a:r>
            <a:endParaRPr lang="en-US" sz="48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21792" y="2084832"/>
            <a:ext cx="7132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700" b="1" dirty="0">
                <a:solidFill>
                  <a:srgbClr val="F5F6E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NITHIN REDDY</a:t>
            </a:r>
            <a:endParaRPr lang="en-US" sz="47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30" dirty="0">
                <a:solidFill>
                  <a:srgbClr val="DDF2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 MANAGER  ·  DIGITAL MARKETING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657600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3CC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digital presence through content, campaigns and community across entertainment, education and brand marketing.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4892040"/>
            <a:ext cx="5605272" cy="0"/>
          </a:xfrm>
          <a:prstGeom prst="line">
            <a:avLst/>
          </a:prstGeom>
          <a:noFill/>
          <a:ln w="12700">
            <a:solidFill>
              <a:srgbClr val="4A55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58368" y="5138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30" dirty="0">
                <a:solidFill>
                  <a:srgbClr val="F5F6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6+ YEARS OF EXPERIENCE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55595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kern="0" spc="110" dirty="0">
                <a:solidFill>
                  <a:srgbClr val="A9B3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 /  CONTENT  /  CAMPAIGNS  /  GROWTH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7930515" y="892683"/>
            <a:ext cx="4029456" cy="19785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11151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6+</a:t>
            </a:r>
            <a:endParaRPr lang="en-US" sz="8400" dirty="0"/>
          </a:p>
        </p:txBody>
      </p:sp>
      <p:sp>
        <p:nvSpPr>
          <p:cNvPr id="15" name="Text 13"/>
          <p:cNvSpPr txBox="1"/>
          <p:nvPr/>
        </p:nvSpPr>
        <p:spPr>
          <a:xfrm>
            <a:off x="8456294" y="2420874"/>
            <a:ext cx="27093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00" b="1" kern="0" spc="230" dirty="0">
                <a:solidFill>
                  <a:srgbClr val="1115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YEARS OF </a:t>
            </a:r>
            <a:br>
              <a:rPr lang="en-US" sz="1700" b="1" kern="0" spc="230" dirty="0">
                <a:solidFill>
                  <a:srgbClr val="1115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700" b="1" kern="0" spc="230" dirty="0">
                <a:solidFill>
                  <a:srgbClr val="1115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AA49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C75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PROFILE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513"/>
                </a:solidFill>
                <a:latin typeface="Aptos"/>
                <a:ea typeface="Inter Display" pitchFamily="34" charset="-122"/>
                <a:cs typeface="Inter Display" pitchFamily="34" charset="-120"/>
              </a:rPr>
              <a:t>A career built across content, campaigns and audiences</a:t>
            </a:r>
            <a:endParaRPr lang="en-US" sz="2900" dirty="0">
              <a:latin typeface="Apto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21792" y="14264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C75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 management and digital marketing experience across entertainment, education and brand-led businesses.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993392"/>
            <a:ext cx="3657600" cy="3611880"/>
          </a:xfrm>
          <a:prstGeom prst="roundRect">
            <a:avLst>
              <a:gd name="adj" fmla="val 4557"/>
            </a:avLst>
          </a:prstGeom>
          <a:solidFill>
            <a:srgbClr val="111513"/>
          </a:solidFill>
          <a:ln w="12700">
            <a:solidFill>
              <a:srgbClr val="11151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96112" y="2267712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DDF26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6+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5F6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YEARS OF EXPERIENCE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4069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4C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 management  •  digital marketing  •  analytics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53712" y="1993392"/>
            <a:ext cx="7004304" cy="1033272"/>
          </a:xfrm>
          <a:prstGeom prst="roundRect">
            <a:avLst>
              <a:gd name="adj" fmla="val 13274"/>
            </a:avLst>
          </a:prstGeom>
          <a:solidFill>
            <a:srgbClr val="FFFFFF"/>
          </a:solidFill>
          <a:ln w="12700">
            <a:solidFill>
              <a:srgbClr val="E0E5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475488" cy="292608"/>
          </a:xfrm>
          <a:prstGeom prst="roundRect">
            <a:avLst>
              <a:gd name="adj" fmla="val 37500"/>
            </a:avLst>
          </a:prstGeom>
          <a:solidFill>
            <a:srgbClr val="E88A37"/>
          </a:solidFill>
          <a:ln w="12700">
            <a:solidFill>
              <a:srgbClr val="E88A3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864608" y="2208276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110" dirty="0">
                <a:solidFill>
                  <a:srgbClr val="1115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13248" y="2167128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10" dirty="0">
                <a:solidFill>
                  <a:srgbClr val="1115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ENTERTAINMENT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525512" y="213969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C75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Film and music promotions, social-first content and audience engagement.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53712" y="3209544"/>
            <a:ext cx="7004304" cy="1033272"/>
          </a:xfrm>
          <a:prstGeom prst="roundRect">
            <a:avLst>
              <a:gd name="adj" fmla="val 13274"/>
            </a:avLst>
          </a:prstGeom>
          <a:solidFill>
            <a:srgbClr val="FFFFFF"/>
          </a:solidFill>
          <a:ln w="12700">
            <a:solidFill>
              <a:srgbClr val="E0E5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54880" y="3410712"/>
            <a:ext cx="475488" cy="292608"/>
          </a:xfrm>
          <a:prstGeom prst="roundRect">
            <a:avLst>
              <a:gd name="adj" fmla="val 37500"/>
            </a:avLst>
          </a:prstGeom>
          <a:solidFill>
            <a:srgbClr val="6C9DD4"/>
          </a:solidFill>
          <a:ln w="12700">
            <a:solidFill>
              <a:srgbClr val="6C9DD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864608" y="34244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110" dirty="0">
                <a:solidFill>
                  <a:srgbClr val="1115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413248" y="3383280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10" dirty="0">
                <a:solidFill>
                  <a:srgbClr val="1115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335584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C75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campaigns, sports promotions, admissions and event content.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53712" y="4425696"/>
            <a:ext cx="7004304" cy="1033272"/>
          </a:xfrm>
          <a:prstGeom prst="roundRect">
            <a:avLst>
              <a:gd name="adj" fmla="val 13274"/>
            </a:avLst>
          </a:prstGeom>
          <a:solidFill>
            <a:srgbClr val="FFFFFF"/>
          </a:solidFill>
          <a:ln w="12700">
            <a:solidFill>
              <a:srgbClr val="E0E5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754880" y="4626864"/>
            <a:ext cx="475488" cy="292608"/>
          </a:xfrm>
          <a:prstGeom prst="roundRect">
            <a:avLst>
              <a:gd name="adj" fmla="val 37500"/>
            </a:avLst>
          </a:prstGeom>
          <a:solidFill>
            <a:srgbClr val="AEBE9B"/>
          </a:solidFill>
          <a:ln w="12700">
            <a:solidFill>
              <a:srgbClr val="AEBE9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4864608" y="464058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110" dirty="0">
                <a:solidFill>
                  <a:srgbClr val="1115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413248" y="4599432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10" dirty="0">
                <a:solidFill>
                  <a:srgbClr val="1115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MARKETING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525512" y="457200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C75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marketing, paid media, SEO and digital presence.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6272784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i="1" dirty="0">
                <a:solidFill>
                  <a:srgbClr val="7780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summary based on the resume provided and project details shared for this portfolio.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87064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3891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DDF2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CAREER JOURNEY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5F6E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Five chapters. One evolving skill set.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4264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EB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timeline below follows the employment dates and role titles in your latest resume.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41832" y="2057400"/>
            <a:ext cx="0" cy="3867912"/>
          </a:xfrm>
          <a:prstGeom prst="line">
            <a:avLst/>
          </a:prstGeom>
          <a:noFill/>
          <a:ln w="25400">
            <a:solidFill>
              <a:srgbClr val="4853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04672" y="2029968"/>
            <a:ext cx="274320" cy="274320"/>
          </a:xfrm>
          <a:prstGeom prst="ellipse">
            <a:avLst/>
          </a:prstGeom>
          <a:solidFill>
            <a:srgbClr val="DF564D"/>
          </a:solidFill>
          <a:ln w="12700">
            <a:solidFill>
              <a:srgbClr val="DF56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325880" y="1938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kern="0" spc="70" dirty="0">
                <a:solidFill>
                  <a:srgbClr val="DF56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2020–2021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89280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6E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ADITYA MUSIC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DDF2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 Executive</a:t>
            </a:r>
            <a:endParaRPr lang="en-US" sz="920" dirty="0"/>
          </a:p>
        </p:txBody>
      </p:sp>
      <p:sp>
        <p:nvSpPr>
          <p:cNvPr id="10" name="Text 8"/>
          <p:cNvSpPr txBox="1"/>
          <p:nvPr/>
        </p:nvSpPr>
        <p:spPr>
          <a:xfrm>
            <a:off x="8686800" y="19110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B7C1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Film and music promotions, social channels, audience development.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04672" y="2862072"/>
            <a:ext cx="274320" cy="274320"/>
          </a:xfrm>
          <a:prstGeom prst="ellipse">
            <a:avLst/>
          </a:prstGeom>
          <a:solidFill>
            <a:srgbClr val="E88A37"/>
          </a:solidFill>
          <a:ln w="12700">
            <a:solidFill>
              <a:srgbClr val="E88A3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325880" y="27706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kern="0" spc="70" dirty="0">
                <a:solidFill>
                  <a:srgbClr val="E88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2021–2022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72491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6E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TICKET FACTORY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7523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DDF2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Marketing Executive</a:t>
            </a:r>
            <a:endParaRPr lang="en-US" sz="92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7432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B7C1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 promotion, scripts, short-form shoots and channel growth.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04672" y="3694176"/>
            <a:ext cx="274320" cy="274320"/>
          </a:xfrm>
          <a:prstGeom prst="ellipse">
            <a:avLst/>
          </a:prstGeom>
          <a:solidFill>
            <a:srgbClr val="AEBE9B"/>
          </a:solidFill>
          <a:ln w="12700">
            <a:solidFill>
              <a:srgbClr val="AEBE9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325880" y="36027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kern="0" spc="70" dirty="0">
                <a:solidFill>
                  <a:srgbClr val="AEBE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2022–2023</a:t>
            </a:r>
            <a:endParaRPr lang="en-US" sz="88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55701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6E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SREENIDHI INTERNATIONAL SCHOOL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584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DDF2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Marketing Executive</a:t>
            </a:r>
            <a:endParaRPr lang="en-US" sz="92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35753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B7C1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Sports campaigns, admissions and content production.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04672" y="4526280"/>
            <a:ext cx="274320" cy="274320"/>
          </a:xfrm>
          <a:prstGeom prst="ellipse">
            <a:avLst/>
          </a:prstGeom>
          <a:solidFill>
            <a:srgbClr val="C6A65E"/>
          </a:solidFill>
          <a:ln w="12700">
            <a:solidFill>
              <a:srgbClr val="C6A65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1325880" y="44348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kern="0" spc="70" dirty="0">
                <a:solidFill>
                  <a:srgbClr val="C6A6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2023–2024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438912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6E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GOLDEN SHUTTER STUDIO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4165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DDF2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Marketing Manager</a:t>
            </a:r>
            <a:endParaRPr lang="en-US" sz="92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44074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B7C1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media, SEO, website upkeep and social calendars.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804672" y="5358384"/>
            <a:ext cx="274320" cy="274320"/>
          </a:xfrm>
          <a:prstGeom prst="ellipse">
            <a:avLst/>
          </a:prstGeom>
          <a:solidFill>
            <a:srgbClr val="DDF26A"/>
          </a:solidFill>
          <a:ln w="12700">
            <a:solidFill>
              <a:srgbClr val="DDF26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1325880" y="52669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kern="0" spc="70" dirty="0">
                <a:solidFill>
                  <a:srgbClr val="DDF2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2024–PRESENT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2743200" y="522122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F6E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K-INNOVATIVE HUB PVT LTD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52486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DDF2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 Manager</a:t>
            </a:r>
            <a:endParaRPr lang="en-US" sz="920" dirty="0"/>
          </a:p>
        </p:txBody>
      </p:sp>
      <p:sp>
        <p:nvSpPr>
          <p:cNvPr id="30" name="Text 28"/>
          <p:cNvSpPr txBox="1"/>
          <p:nvPr/>
        </p:nvSpPr>
        <p:spPr>
          <a:xfrm>
            <a:off x="8686800" y="52395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B7C1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marketing, content operations and multi-brand social media.</a:t>
            </a:r>
            <a:endParaRPr lang="en-US" sz="880" dirty="0"/>
          </a:p>
        </p:txBody>
      </p:sp>
      <p:sp>
        <p:nvSpPr>
          <p:cNvPr id="31" name="Text 29"/>
          <p:cNvSpPr txBox="1"/>
          <p:nvPr/>
        </p:nvSpPr>
        <p:spPr>
          <a:xfrm>
            <a:off x="621792" y="6272784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i="1" dirty="0">
                <a:solidFill>
                  <a:srgbClr val="9AA4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date ranges are reproduced from the resume; the Ticket Factory and Sreenidhi ranges overlap for one month as written in the source CV.</a:t>
            </a:r>
            <a:endParaRPr lang="en-US" sz="73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AA49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737360" cy="256032"/>
          </a:xfrm>
          <a:prstGeom prst="roundRect">
            <a:avLst>
              <a:gd name="adj" fmla="val 12000"/>
            </a:avLst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5910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DCF449"/>
                </a:solidFill>
                <a:latin typeface="Aptos"/>
              </a:rPr>
              <a:t>03 / BRAND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21614"/>
                </a:solidFill>
                <a:latin typeface="Aptos"/>
              </a:rPr>
              <a:t>Two chapters in entertainment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35B"/>
                </a:solidFill>
                <a:latin typeface="Aptos"/>
              </a:rPr>
              <a:t>The first part of this portfolio documents my work across music-led film promotion and movie marketing.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5349240" cy="3063240"/>
          </a:xfrm>
          <a:prstGeom prst="roundRect">
            <a:avLst>
              <a:gd name="adj" fmla="val 12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606040"/>
            <a:ext cx="2011680" cy="914400"/>
          </a:xfrm>
          <a:prstGeom prst="rect">
            <a:avLst/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642616"/>
            <a:ext cx="1792224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D6303D"/>
                </a:solidFill>
                <a:latin typeface="Aptos"/>
              </a:rPr>
              <a:t>ADITYA</a:t>
            </a:r>
          </a:p>
        </p:txBody>
      </p:sp>
      <p:sp>
        <p:nvSpPr>
          <p:cNvPr id="9" name="Rectangle 8"/>
          <p:cNvSpPr/>
          <p:nvPr/>
        </p:nvSpPr>
        <p:spPr>
          <a:xfrm>
            <a:off x="1316736" y="3200400"/>
            <a:ext cx="1207008" cy="219456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16736" y="3200400"/>
            <a:ext cx="12070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A"/>
                </a:solidFill>
                <a:latin typeface="Aptos"/>
              </a:rPr>
              <a:t>M U S I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69748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21614"/>
                </a:solidFill>
                <a:latin typeface="Aptos"/>
              </a:rPr>
              <a:t>ADITYA MUSIC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127248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35B"/>
                </a:solidFill>
                <a:latin typeface="Aptos"/>
              </a:rPr>
              <a:t>Social Media Executive
March 2020 – May 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44805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21614"/>
                </a:solidFill>
                <a:latin typeface="Aptos"/>
              </a:rPr>
              <a:t>Film promotions • Music campaigns • Audience growth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48840"/>
            <a:ext cx="5349240" cy="3063240"/>
          </a:xfrm>
          <a:prstGeom prst="roundRect">
            <a:avLst>
              <a:gd name="adj" fmla="val 12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29400" y="26060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DCF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2552" y="2642616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21614"/>
                </a:solidFill>
                <a:latin typeface="Aptos"/>
              </a:rPr>
              <a:t>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90088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21614"/>
                </a:solidFill>
                <a:latin typeface="Aptos"/>
              </a:rPr>
              <a:t>FACTORY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69748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21614"/>
                </a:solidFill>
                <a:latin typeface="Aptos"/>
              </a:rPr>
              <a:t>TICKET FACTORY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127248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35B"/>
                </a:solidFill>
                <a:latin typeface="Aptos"/>
              </a:rPr>
              <a:t>Digital Marketing Executive
June 2021 – July 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251960"/>
            <a:ext cx="44805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21614"/>
                </a:solidFill>
                <a:latin typeface="Aptos"/>
              </a:rPr>
              <a:t>Promotional scripts • Campaign ideas • Movie 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89320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5B635B"/>
                </a:solidFill>
                <a:latin typeface="Aptos"/>
              </a:rPr>
              <a:t>Logo panels are editable portfolio wordmarks; replace with original brand files if you have them.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480" y="65288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B9C1B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38912"/>
            <a:ext cx="1097280" cy="256032"/>
          </a:xfrm>
          <a:prstGeom prst="roundRect">
            <a:avLst>
              <a:gd name="adj" fmla="val 12000"/>
            </a:avLst>
          </a:prstGeom>
          <a:solidFill>
            <a:srgbClr val="D63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448056"/>
            <a:ext cx="9509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A"/>
                </a:solidFill>
                <a:latin typeface="Aptos"/>
              </a:rPr>
              <a:t>CHAPTER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19" y="1051560"/>
            <a:ext cx="5017347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 dirty="0">
                <a:solidFill>
                  <a:srgbClr val="FFFFFA"/>
                </a:solidFill>
                <a:latin typeface="Aptos"/>
              </a:rPr>
              <a:t>ADITYA</a:t>
            </a:r>
            <a:r>
              <a:rPr lang="en-IN" sz="3400" b="1" i="0" dirty="0">
                <a:solidFill>
                  <a:srgbClr val="FFFFFA"/>
                </a:solidFill>
                <a:latin typeface="Aptos"/>
              </a:rPr>
              <a:t> </a:t>
            </a:r>
            <a:r>
              <a:rPr sz="3400" b="1" i="0" dirty="0">
                <a:solidFill>
                  <a:srgbClr val="FFFFFA"/>
                </a:solidFill>
                <a:latin typeface="Aptos"/>
              </a:rPr>
              <a:t>MUSIC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974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CF449"/>
                </a:solidFill>
                <a:latin typeface="Aptos"/>
              </a:rPr>
              <a:t>Social Media Executive  /  March 2020 – May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FFFFA"/>
                </a:solidFill>
                <a:latin typeface="Aptos"/>
              </a:rPr>
              <a:t>Worked across social media promotions for major Telugu film projects, including campaign creatives, music-led content, short-form video and audience engagement.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091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CF449"/>
                </a:solidFill>
                <a:latin typeface="Aptos"/>
              </a:rPr>
              <a:t>SELECTED FILM CAMPAIGNS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138928"/>
            <a:ext cx="2331720" cy="365760"/>
          </a:xfrm>
          <a:prstGeom prst="roundRect">
            <a:avLst>
              <a:gd name="adj" fmla="val 12000"/>
            </a:avLst>
          </a:prstGeom>
          <a:solidFill>
            <a:srgbClr val="1E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515721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A"/>
                </a:solidFill>
                <a:latin typeface="Aptos"/>
              </a:rPr>
              <a:t>PUSHPA: THE RISE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39" y="5138928"/>
            <a:ext cx="2331720" cy="365760"/>
          </a:xfrm>
          <a:prstGeom prst="roundRect">
            <a:avLst>
              <a:gd name="adj" fmla="val 12000"/>
            </a:avLst>
          </a:prstGeom>
          <a:solidFill>
            <a:srgbClr val="1E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72968" y="515721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A"/>
                </a:solidFill>
                <a:latin typeface="Aptos"/>
              </a:rPr>
              <a:t>VAKEEL SAAB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641848"/>
            <a:ext cx="2331720" cy="365760"/>
          </a:xfrm>
          <a:prstGeom prst="roundRect">
            <a:avLst>
              <a:gd name="adj" fmla="val 12000"/>
            </a:avLst>
          </a:prstGeom>
          <a:solidFill>
            <a:srgbClr val="1E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566013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A"/>
                </a:solidFill>
                <a:latin typeface="Aptos"/>
              </a:rPr>
              <a:t>LOVE 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39" y="5641848"/>
            <a:ext cx="2331720" cy="365760"/>
          </a:xfrm>
          <a:prstGeom prst="roundRect">
            <a:avLst>
              <a:gd name="adj" fmla="val 12000"/>
            </a:avLst>
          </a:prstGeom>
          <a:solidFill>
            <a:srgbClr val="1E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72968" y="566013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A"/>
                </a:solidFill>
                <a:latin typeface="Aptos"/>
              </a:rPr>
              <a:t>MOST ELIGIBLE BACHELOR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822960"/>
            <a:ext cx="4754880" cy="5120640"/>
          </a:xfrm>
          <a:prstGeom prst="roundRect">
            <a:avLst>
              <a:gd name="adj" fmla="val 12000"/>
            </a:avLst>
          </a:prstGeom>
          <a:solidFill>
            <a:srgbClr val="9B4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9560" y="1325880"/>
            <a:ext cx="2103120" cy="1051560"/>
          </a:xfrm>
          <a:prstGeom prst="rect">
            <a:avLst/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19288" y="1362456"/>
            <a:ext cx="1883663" cy="5993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D6303D"/>
                </a:solidFill>
                <a:latin typeface="Aptos"/>
              </a:rPr>
              <a:t>ADITYA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0183" y="2009393"/>
            <a:ext cx="1261872" cy="252374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0183" y="2009393"/>
            <a:ext cx="1261872" cy="2523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A"/>
                </a:solidFill>
                <a:latin typeface="Aptos"/>
              </a:rPr>
              <a:t>M U S I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97180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FFFFFA"/>
                </a:solidFill>
                <a:latin typeface="Aptos"/>
              </a:rPr>
              <a:t>MAA PAATA MEE NOTA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5204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DCF449"/>
                </a:solidFill>
                <a:latin typeface="Aptos"/>
              </a:rPr>
              <a:t>130K FOLLOWERS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16052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A"/>
                </a:solidFill>
                <a:latin typeface="Aptos"/>
              </a:rPr>
              <a:t>Social page creation, audience development and Facebook revenue activity (as listed in the resume).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08076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B9C1B4"/>
                </a:solidFill>
                <a:latin typeface="Aptos"/>
              </a:rPr>
              <a:t>Campaign contribution details are listed on the following project slides.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60480" y="65288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>
                <a:solidFill>
                  <a:srgbClr val="B9C1B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ADITYA MUSIC  /  SELECTED FILM CAMPAIGNS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14400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7F8FA"/>
                </a:solidFill>
                <a:latin typeface="Aptos"/>
              </a:rPr>
              <a:t>Film promotions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058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BEC7D5"/>
                </a:solidFill>
                <a:latin typeface="Aptos"/>
              </a:rPr>
              <a:t>Selected Telugu film projects from my Aditya Music chapter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" y="1732788"/>
            <a:ext cx="2066543" cy="3255264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5373"/>
            <a:ext cx="1965960" cy="29500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" y="5065776"/>
            <a:ext cx="211226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7F8FA"/>
                </a:solidFill>
                <a:latin typeface="Aptos"/>
              </a:rPr>
              <a:t>PUSHPA: THE RISE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8627" y="1732788"/>
            <a:ext cx="2066543" cy="3255264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998347"/>
            <a:ext cx="1965960" cy="2724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15768" y="5065776"/>
            <a:ext cx="211226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7F8FA"/>
                </a:solidFill>
                <a:latin typeface="Aptos"/>
              </a:rPr>
              <a:t>VAKEEL SAAB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4628" y="1732788"/>
            <a:ext cx="2066543" cy="3255264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968162"/>
            <a:ext cx="1965960" cy="27845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01768" y="5065776"/>
            <a:ext cx="211226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7F8FA"/>
                </a:solidFill>
                <a:latin typeface="Aptos"/>
              </a:rPr>
              <a:t>LOVE 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0628" y="1732788"/>
            <a:ext cx="2066543" cy="3255264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1984248"/>
            <a:ext cx="1965960" cy="2752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87768" y="5065776"/>
            <a:ext cx="211226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7F8FA"/>
                </a:solidFill>
                <a:latin typeface="Aptos"/>
              </a:rPr>
              <a:t>MOST ELIGIBLE BACHELOR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96628" y="1732788"/>
            <a:ext cx="2066543" cy="3255264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0" y="1887296"/>
            <a:ext cx="1965960" cy="294624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73768" y="5065776"/>
            <a:ext cx="211226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7F8FA"/>
                </a:solidFill>
                <a:latin typeface="Aptos"/>
              </a:rPr>
              <a:t>THE WARRIOR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50040" y="6528816"/>
            <a:ext cx="3200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>
                <a:solidFill>
                  <a:srgbClr val="A0AAB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ADITYA MUSIC  /  ROLE &amp;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9144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7F8FA"/>
                </a:solidFill>
                <a:latin typeface="Aptos"/>
              </a:rPr>
              <a:t>What I worked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BEC7D5"/>
                </a:solidFill>
                <a:latin typeface="Aptos"/>
              </a:rPr>
              <a:t>Social Media Executive  •  March 2020 – May 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4937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FILM &amp; MUSIC PROMOTION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606040"/>
            <a:ext cx="5074920" cy="658368"/>
          </a:xfrm>
          <a:prstGeom prst="roundRect">
            <a:avLst/>
          </a:prstGeom>
          <a:solidFill>
            <a:srgbClr val="1C2739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761488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743200"/>
            <a:ext cx="4160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F7F8FA"/>
                </a:solidFill>
                <a:latin typeface="Aptos"/>
              </a:rPr>
              <a:t>Social media promotional posts and creative campaigns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2606040"/>
            <a:ext cx="5074920" cy="658368"/>
          </a:xfrm>
          <a:prstGeom prst="roundRect">
            <a:avLst/>
          </a:prstGeom>
          <a:solidFill>
            <a:srgbClr val="1C2739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761488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2743200"/>
            <a:ext cx="4160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F7F8FA"/>
                </a:solidFill>
                <a:latin typeface="Aptos"/>
              </a:rPr>
              <a:t>Song promotions and lyrical video promotion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520440"/>
            <a:ext cx="5074920" cy="658368"/>
          </a:xfrm>
          <a:prstGeom prst="roundRect">
            <a:avLst/>
          </a:prstGeom>
          <a:solidFill>
            <a:srgbClr val="1C2739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3675888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57600"/>
            <a:ext cx="4160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F7F8FA"/>
                </a:solidFill>
                <a:latin typeface="Aptos"/>
              </a:rPr>
              <a:t>Teaser and trailer promotions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520440"/>
            <a:ext cx="5074920" cy="658368"/>
          </a:xfrm>
          <a:prstGeom prst="roundRect">
            <a:avLst/>
          </a:prstGeom>
          <a:solidFill>
            <a:srgbClr val="1C2739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675888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3657600"/>
            <a:ext cx="4160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F7F8FA"/>
                </a:solidFill>
                <a:latin typeface="Aptos"/>
              </a:rPr>
              <a:t>Reels and short-form video content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434840"/>
            <a:ext cx="5074920" cy="658368"/>
          </a:xfrm>
          <a:prstGeom prst="roundRect">
            <a:avLst/>
          </a:prstGeom>
          <a:solidFill>
            <a:srgbClr val="1C2739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4590288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572000"/>
            <a:ext cx="4160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F7F8FA"/>
                </a:solidFill>
                <a:latin typeface="Aptos"/>
              </a:rPr>
              <a:t>Captions, copywriting and campaign execution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4434840"/>
            <a:ext cx="5074920" cy="658368"/>
          </a:xfrm>
          <a:prstGeom prst="roundRect">
            <a:avLst/>
          </a:prstGeom>
          <a:solidFill>
            <a:srgbClr val="1C2739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590288"/>
            <a:ext cx="457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4572000"/>
            <a:ext cx="4160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F7F8FA"/>
                </a:solidFill>
                <a:latin typeface="Aptos"/>
              </a:rPr>
              <a:t>Audience engagement and social media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7150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BEC7D5"/>
                </a:solidFill>
                <a:latin typeface="Aptos"/>
              </a:rPr>
              <a:t>The above reflects the shared campaign responsibilities across the selected film projects.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50040" y="6528816"/>
            <a:ext cx="3200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>
                <a:solidFill>
                  <a:srgbClr val="A0AAB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TICKET FACTORY  /  SELECTED FILM CAMPAIGNS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14400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7F8FA"/>
                </a:solidFill>
                <a:latin typeface="Aptos"/>
              </a:rPr>
              <a:t>Film promotions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058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BEC7D5"/>
                </a:solidFill>
                <a:latin typeface="Aptos"/>
              </a:rPr>
              <a:t>Selected projects from my digital marketing role at Ticket Factory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6947" y="1732788"/>
            <a:ext cx="2112264" cy="3346703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V5BY2Y0MGM2NTUtZDkxYy00NGMxLWFmMjMtYmZjMDhkMjFmZDFmXkEyXkFqcGc@._V1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8627"/>
            <a:ext cx="2011680" cy="28750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157216"/>
            <a:ext cx="21945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19" b="1">
                <a:solidFill>
                  <a:srgbClr val="F7F8FA"/>
                </a:solidFill>
                <a:latin typeface="Aptos"/>
              </a:rPr>
              <a:t>LATHthi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1508" y="1732788"/>
            <a:ext cx="2112264" cy="3346703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s (6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898757"/>
            <a:ext cx="2011680" cy="30147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80360" y="5157216"/>
            <a:ext cx="21945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19" b="1">
                <a:solidFill>
                  <a:srgbClr val="F7F8FA"/>
                </a:solidFill>
                <a:latin typeface="Aptos"/>
              </a:rPr>
              <a:t>ITLU MAREDUMILLI PRAJANEekam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6068" y="1732788"/>
            <a:ext cx="2112264" cy="3346703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s (5)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898757"/>
            <a:ext cx="2011680" cy="30147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74920" y="5157216"/>
            <a:ext cx="21945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19" b="1">
                <a:solidFill>
                  <a:srgbClr val="F7F8FA"/>
                </a:solidFill>
                <a:latin typeface="Aptos"/>
              </a:rPr>
              <a:t>PANCHATHANTRAM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0628" y="1732788"/>
            <a:ext cx="2112264" cy="3346703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s (4)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143167"/>
            <a:ext cx="2011680" cy="25259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69480" y="5157216"/>
            <a:ext cx="21945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19" b="1">
                <a:solidFill>
                  <a:srgbClr val="F7F8FA"/>
                </a:solidFill>
                <a:latin typeface="Aptos"/>
              </a:rPr>
              <a:t>BEDURULANKA 2012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5188" y="1732788"/>
            <a:ext cx="2112264" cy="3346703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wathimuthyam-et00331456-15-06-2022-12-00-4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0" y="1897380"/>
            <a:ext cx="2011680" cy="30175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64040" y="5157216"/>
            <a:ext cx="21945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19" b="1">
                <a:solidFill>
                  <a:srgbClr val="F7F8FA"/>
                </a:solidFill>
                <a:latin typeface="Aptos"/>
              </a:rPr>
              <a:t>SWATHIMUTHYAM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47104"/>
            <a:ext cx="5943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A0AABA"/>
                </a:solidFill>
                <a:latin typeface="Aptos"/>
              </a:rPr>
              <a:t>NITHIN CHAGAM REDDY  /  PORTFOLIO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50040" y="6528816"/>
            <a:ext cx="3200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>
                <a:solidFill>
                  <a:srgbClr val="A0AAB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TICKET FACTORY  /  ROLE &amp;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914400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7F8FA"/>
                </a:solidFill>
                <a:latin typeface="Aptos"/>
              </a:rPr>
              <a:t>What I worked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058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BEC7D5"/>
                </a:solidFill>
                <a:latin typeface="Aptos"/>
              </a:rPr>
              <a:t>Digital Marketing Executive  •  June 2021 – July 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4937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FILM &amp; DIGITAL PROMOTION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23160"/>
            <a:ext cx="5074920" cy="621792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569464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542032"/>
            <a:ext cx="4160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F7F8FA"/>
                </a:solidFill>
                <a:latin typeface="Aptos"/>
              </a:rPr>
              <a:t>Movie promotional script writing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2423160"/>
            <a:ext cx="5074920" cy="621792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569464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2542032"/>
            <a:ext cx="4160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F7F8FA"/>
                </a:solidFill>
                <a:latin typeface="Aptos"/>
              </a:rPr>
              <a:t>Social media campaigns for film releases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264408"/>
            <a:ext cx="5074920" cy="621792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3410712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383279"/>
            <a:ext cx="4160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F7F8FA"/>
                </a:solidFill>
                <a:latin typeface="Aptos"/>
              </a:rPr>
              <a:t>Promotional concepts and creative ideas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264408"/>
            <a:ext cx="5074920" cy="621792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410712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3383279"/>
            <a:ext cx="4160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F7F8FA"/>
                </a:solidFill>
                <a:latin typeface="Aptos"/>
              </a:rPr>
              <a:t>Short-form promotional content and shoot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105656"/>
            <a:ext cx="5074920" cy="621792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4251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224528"/>
            <a:ext cx="4160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F7F8FA"/>
                </a:solidFill>
                <a:latin typeface="Aptos"/>
              </a:rPr>
              <a:t>Digital channel growth and audience engagement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4105656"/>
            <a:ext cx="5074920" cy="621792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251960"/>
            <a:ext cx="457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4224528"/>
            <a:ext cx="4160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F7F8FA"/>
                </a:solidFill>
                <a:latin typeface="Aptos"/>
              </a:rPr>
              <a:t>Campaign coordination and content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303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BEC7D5"/>
                </a:solidFill>
                <a:latin typeface="Aptos"/>
              </a:rPr>
              <a:t>The responsibilities above represent the shared work across the selected film campaigns.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47104"/>
            <a:ext cx="5943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A0AABA"/>
                </a:solidFill>
                <a:latin typeface="Aptos"/>
              </a:rPr>
              <a:t>NITHIN CHAGAM REDDY  /  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50040" y="6528816"/>
            <a:ext cx="3200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>
                <a:solidFill>
                  <a:srgbClr val="A0AAB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1B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2B95C"/>
                </a:solidFill>
                <a:latin typeface="Aptos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749807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7F8FA"/>
                </a:solidFill>
                <a:latin typeface="Aptos"/>
              </a:rPr>
              <a:t>Sreenidhi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EC7D5"/>
                </a:solidFill>
                <a:latin typeface="Aptos"/>
              </a:rPr>
              <a:t>Supporting the school’s digital presence through content, communication and marketing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88620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2B95C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187952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7F8FA"/>
                </a:solidFill>
                <a:latin typeface="Aptos"/>
              </a:rPr>
              <a:t>Digital Marketing Executive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9834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2B95C"/>
                </a:solidFill>
                <a:latin typeface="Aptos"/>
              </a:rPr>
              <a:t>DURATION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85232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7F8FA"/>
                </a:solidFill>
                <a:latin typeface="Aptos"/>
              </a:rPr>
              <a:t>June 2022 – June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874519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E2B95C"/>
                </a:solidFill>
                <a:latin typeface="Aptos"/>
              </a:rPr>
              <a:t>EXPERIENCE  •  EXECUTION  •  COLLABORATION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315468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F7F8FA"/>
                </a:solidFill>
                <a:latin typeface="Aptos"/>
              </a:rPr>
              <a:t>A practical chapter in my digital marketing journey.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A0AABA"/>
                </a:solidFill>
                <a:latin typeface="Aptos"/>
              </a:rPr>
              <a:t>NITHIN CHAGAM REDDY  / 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0040" y="65288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A0AAB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SREENIDHI INTERNATIONAL SCHOOL  /  ROLE &amp;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7F8FA"/>
                </a:solidFill>
                <a:latin typeface="Aptos"/>
              </a:rPr>
              <a:t>My work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BEC7D5"/>
                </a:solidFill>
                <a:latin typeface="Aptos"/>
              </a:rPr>
              <a:t>Digital Marketing Executive  •  June 2022 – June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46504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BEC7D5"/>
                </a:solidFill>
                <a:latin typeface="Aptos"/>
              </a:rPr>
              <a:t>A general overview of responsibilities; no specific achievements or performance metrics are claimed.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04288"/>
            <a:ext cx="5074920" cy="768096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45973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14016"/>
            <a:ext cx="417880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Social media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70048"/>
            <a:ext cx="41788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Supported routine social media content and publishing.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2304288"/>
            <a:ext cx="5074920" cy="768096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45973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414016"/>
            <a:ext cx="417880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Content 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670048"/>
            <a:ext cx="41788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Coordinated content requirements with relevant teams.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91840"/>
            <a:ext cx="5074920" cy="768096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44728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01568"/>
            <a:ext cx="417880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School 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657600"/>
            <a:ext cx="41788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Supported communication around school activities and events.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3291840"/>
            <a:ext cx="5074920" cy="768096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44728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401568"/>
            <a:ext cx="417880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Creative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657600"/>
            <a:ext cx="41788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Helped prepare and organise digital marketing creatives.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279392"/>
            <a:ext cx="5074920" cy="768096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4348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389120"/>
            <a:ext cx="417880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Publishing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45152"/>
            <a:ext cx="41788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Assisted with scheduling, posting and maintaining content flow.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4279392"/>
            <a:ext cx="5074920" cy="768096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4348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389120"/>
            <a:ext cx="417880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Digital presence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645152"/>
            <a:ext cx="41788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Helped maintain consistent online communication.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A0AABA"/>
                </a:solidFill>
                <a:latin typeface="Aptos"/>
              </a:rPr>
              <a:t>NITHIN CHAGAM REDDY  / 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50040" y="65288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A0AAB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1B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2B95C"/>
                </a:solidFill>
                <a:latin typeface="Aptos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749807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7F8FA"/>
                </a:solidFill>
                <a:latin typeface="Aptos"/>
              </a:rPr>
              <a:t>Golden Shutter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7040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EC7D5"/>
                </a:solidFill>
                <a:latin typeface="Aptos"/>
              </a:rPr>
              <a:t>Freelance digital marketing work focused on planning, content coordination and online brand communication.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88620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2B95C"/>
                </a:solidFill>
                <a:latin typeface="Aptos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187952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7F8FA"/>
                </a:solidFill>
                <a:latin typeface="Aptos"/>
              </a:rPr>
              <a:t>Digital Marketing Manager (Freelance)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9834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2B95C"/>
                </a:solidFill>
                <a:latin typeface="Aptos"/>
              </a:rPr>
              <a:t>DURATION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85232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7F8FA"/>
                </a:solidFill>
                <a:latin typeface="Aptos"/>
              </a:rPr>
              <a:t>July 2023 – July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874519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E2B95C"/>
                </a:solidFill>
                <a:latin typeface="Aptos"/>
              </a:rPr>
              <a:t>EXPERIENCE  •  EXECUTION  •  COLLABORATION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315468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F7F8FA"/>
                </a:solidFill>
                <a:latin typeface="Aptos"/>
              </a:rPr>
              <a:t>A practical chapter in my digital marketing journey.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A0AABA"/>
                </a:solidFill>
                <a:latin typeface="Aptos"/>
              </a:rPr>
              <a:t>NITHIN CHAGAM REDDY  / 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0040" y="65288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A0AAB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GOLDEN SHUTTER STUDIO  /  ROLE &amp;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7F8FA"/>
                </a:solidFill>
                <a:latin typeface="Aptos"/>
              </a:rPr>
              <a:t>My work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BEC7D5"/>
                </a:solidFill>
                <a:latin typeface="Aptos"/>
              </a:rPr>
              <a:t>Digital Marketing Manager (Freelance)  •  July 2023 – July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46504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BEC7D5"/>
                </a:solidFill>
                <a:latin typeface="Aptos"/>
              </a:rPr>
              <a:t>Responsibilities are presented generically, without adding unverified client names, campaigns or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04288"/>
            <a:ext cx="5074920" cy="768096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45973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14016"/>
            <a:ext cx="417880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Marketing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70048"/>
            <a:ext cx="41788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Supported digital marketing planning based on project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2304288"/>
            <a:ext cx="5074920" cy="768096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45973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414016"/>
            <a:ext cx="417880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Social media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670048"/>
            <a:ext cx="41788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Managed routine social media content and publishing activities.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91840"/>
            <a:ext cx="5074920" cy="768096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44728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01568"/>
            <a:ext cx="417880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Content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657600"/>
            <a:ext cx="41788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Worked on content ideas, captions and creative direction.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3291840"/>
            <a:ext cx="5074920" cy="768096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44728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401568"/>
            <a:ext cx="417880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Campaign coordination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657600"/>
            <a:ext cx="41788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Coordinated marketing deliverables and content timelines.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279392"/>
            <a:ext cx="5074920" cy="768096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4348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389120"/>
            <a:ext cx="417880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Brand communication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45152"/>
            <a:ext cx="41788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Supported consistent messaging and online brand presentation.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4279392"/>
            <a:ext cx="5074920" cy="768096"/>
          </a:xfrm>
          <a:prstGeom prst="roundRect">
            <a:avLst/>
          </a:prstGeom>
          <a:solidFill>
            <a:srgbClr val="1B2434"/>
          </a:solidFill>
          <a:ln>
            <a:solidFill>
              <a:srgbClr val="39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4348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389120"/>
            <a:ext cx="417880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Execution &amp; follow-up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645152"/>
            <a:ext cx="41788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Followed up on content requirements and day-to-day execution.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A0AABA"/>
                </a:solidFill>
                <a:latin typeface="Aptos"/>
              </a:rPr>
              <a:t>NITHIN CHAGAM REDDY  / 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50040" y="65288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A0AAB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669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2B95C"/>
                </a:solidFill>
                <a:latin typeface="Aptos"/>
              </a:rPr>
              <a:t>CHAPTER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7680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7F8FA"/>
                </a:solidFill>
                <a:latin typeface="Aptos"/>
              </a:rPr>
              <a:t>K-Innovative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93392"/>
            <a:ext cx="7498079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EC7D5"/>
                </a:solidFill>
                <a:latin typeface="Aptos"/>
              </a:rPr>
              <a:t>Social Media Manager  •  August 2024 –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2505456"/>
            <a:ext cx="69951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dirty="0">
                <a:solidFill>
                  <a:srgbClr val="F7F8FA"/>
                </a:solidFill>
                <a:latin typeface="Aptos"/>
              </a:rPr>
              <a:t>A multi-brand social media chapter across education, events and sustainable products.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143000"/>
            <a:ext cx="2971800" cy="3246120"/>
          </a:xfrm>
          <a:prstGeom prst="roundRect">
            <a:avLst/>
          </a:prstGeom>
          <a:solidFill>
            <a:srgbClr val="192233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0" y="1481328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800" b="1">
                <a:solidFill>
                  <a:srgbClr val="E2B95C"/>
                </a:solidFill>
                <a:latin typeface="Aptos"/>
              </a:rPr>
              <a:t>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51460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F7F8FA"/>
                </a:solidFill>
                <a:latin typeface="Aptos"/>
              </a:rPr>
              <a:t>INNOVATIVE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309067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BEC7D5"/>
                </a:solidFill>
                <a:latin typeface="Aptos"/>
              </a:rPr>
              <a:t>DIGITAL • CREATIVE • SOCIAL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8920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2B95C"/>
                </a:solidFill>
                <a:latin typeface="Aptos"/>
              </a:rPr>
              <a:t>Multi-brand content • Reels • Campaigns • Community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3949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BEC7D5"/>
                </a:solidFill>
                <a:latin typeface="Aptos"/>
              </a:rPr>
              <a:t>The chapter combines day-to-day page management with event-led storytelling and campaign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A0AABA"/>
                </a:solidFill>
                <a:latin typeface="Aptos"/>
              </a:rPr>
              <a:t>NITHIN CHAGAM REDDY  / 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0040" y="65288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A0AABA"/>
                </a:solidFill>
                <a:latin typeface="Aptos"/>
              </a:rPr>
              <a:t>14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209F138-A3A5-4A62-810C-1D248CC3B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314700"/>
            <a:ext cx="1179957" cy="11799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786155B-FABD-4ABB-ABD0-44A127E76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504" y="3325845"/>
            <a:ext cx="1117582" cy="117995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4394EF0-BEFC-4070-9268-2A9BEB8E9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401" y="3325368"/>
            <a:ext cx="1180435" cy="1180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K-INNOVATIVE HUB  /  WHAT I MANAGED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7F8FA"/>
                </a:solidFill>
                <a:latin typeface="Aptos"/>
              </a:rPr>
              <a:t>Multi-brand social media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BEC7D5"/>
                </a:solidFill>
                <a:latin typeface="Aptos"/>
              </a:rPr>
              <a:t>Managing content flow, campaigns and audience engagement across multiple brand pages.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5074920" cy="841248"/>
          </a:xfrm>
          <a:prstGeom prst="roundRect">
            <a:avLst/>
          </a:prstGeom>
          <a:solidFill>
            <a:srgbClr val="1D293C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08483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202996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Page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31343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BEC7D5"/>
                </a:solidFill>
                <a:latin typeface="Aptos"/>
              </a:rPr>
              <a:t>Publishing and maintaining active social media pages across the brand portfolio.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920240"/>
            <a:ext cx="5074920" cy="841248"/>
          </a:xfrm>
          <a:prstGeom prst="roundRect">
            <a:avLst/>
          </a:prstGeom>
          <a:solidFill>
            <a:srgbClr val="1D293C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08483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202996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Content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231343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BEC7D5"/>
                </a:solidFill>
                <a:latin typeface="Aptos"/>
              </a:rPr>
              <a:t>Planning posts and reels around events, campaigns and brand communication needs.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999232"/>
            <a:ext cx="5074920" cy="841248"/>
          </a:xfrm>
          <a:prstGeom prst="roundRect">
            <a:avLst/>
          </a:prstGeom>
          <a:solidFill>
            <a:srgbClr val="1D293C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163824"/>
            <a:ext cx="411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10896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Reel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392424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BEC7D5"/>
                </a:solidFill>
                <a:latin typeface="Aptos"/>
              </a:rPr>
              <a:t>Coordinating reel concepts, footage, editing requirements and publishing.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999232"/>
            <a:ext cx="5074920" cy="841248"/>
          </a:xfrm>
          <a:prstGeom prst="roundRect">
            <a:avLst/>
          </a:prstGeom>
          <a:solidFill>
            <a:srgbClr val="1D293C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163824"/>
            <a:ext cx="411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310896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Event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392424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BEC7D5"/>
                </a:solidFill>
                <a:latin typeface="Aptos"/>
              </a:rPr>
              <a:t>Turning school functions and large events into social-first content.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78224"/>
            <a:ext cx="5074920" cy="841248"/>
          </a:xfrm>
          <a:prstGeom prst="roundRect">
            <a:avLst/>
          </a:prstGeom>
          <a:solidFill>
            <a:srgbClr val="1D293C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4242816"/>
            <a:ext cx="411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187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Community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4471416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BEC7D5"/>
                </a:solidFill>
                <a:latin typeface="Aptos"/>
              </a:rPr>
              <a:t>Monitoring engagement and supporting follower and audience growth.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8" y="4078224"/>
            <a:ext cx="5074920" cy="841248"/>
          </a:xfrm>
          <a:prstGeom prst="roundRect">
            <a:avLst/>
          </a:prstGeom>
          <a:solidFill>
            <a:srgbClr val="1D293C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242816"/>
            <a:ext cx="411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2B95C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41879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7F8FA"/>
                </a:solidFill>
                <a:latin typeface="Aptos"/>
              </a:rPr>
              <a:t>Cross-team coordination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471416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BEC7D5"/>
                </a:solidFill>
                <a:latin typeface="Aptos"/>
              </a:rPr>
              <a:t>Working with school teams, designers, photographers, videographers and stakeholders.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A0AABA"/>
                </a:solidFill>
                <a:latin typeface="Aptos"/>
              </a:rPr>
              <a:t>NITHIN CHAGAM REDDY  /  PORTFOLIO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5288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A0AABA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K-INNOVATIVE HUB  /  EVENT STORYTELLING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7899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7F8FA"/>
                </a:solidFill>
                <a:latin typeface="Aptos"/>
              </a:rPr>
              <a:t>From campus moments to digital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BEC7D5"/>
                </a:solidFill>
                <a:latin typeface="Aptos"/>
              </a:rPr>
              <a:t>A selection of event themes supported through content and reel-making.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2651760" cy="2423160"/>
          </a:xfrm>
          <a:prstGeom prst="roundRect">
            <a:avLst/>
          </a:prstGeom>
          <a:solidFill>
            <a:srgbClr val="192233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59" y="2130552"/>
            <a:ext cx="2322576" cy="1143000"/>
          </a:xfrm>
          <a:prstGeom prst="rect">
            <a:avLst/>
          </a:prstGeom>
          <a:solidFill>
            <a:srgbClr val="25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8407" y="2359152"/>
            <a:ext cx="146304" cy="146304"/>
          </a:xfrm>
          <a:prstGeom prst="ellipse">
            <a:avLst/>
          </a:prstGeom>
          <a:solidFill>
            <a:srgbClr val="E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89887" y="2496312"/>
            <a:ext cx="146304" cy="146304"/>
          </a:xfrm>
          <a:prstGeom prst="ellipse">
            <a:avLst/>
          </a:prstGeom>
          <a:solidFill>
            <a:srgbClr val="69A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01367" y="2359152"/>
            <a:ext cx="146304" cy="146304"/>
          </a:xfrm>
          <a:prstGeom prst="ellipse">
            <a:avLst/>
          </a:prstGeom>
          <a:solidFill>
            <a:srgbClr val="66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212848" y="2496312"/>
            <a:ext cx="146304" cy="146304"/>
          </a:xfrm>
          <a:prstGeom prst="ellipse">
            <a:avLst/>
          </a:prstGeom>
          <a:solidFill>
            <a:srgbClr val="E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624328" y="2359152"/>
            <a:ext cx="146304" cy="146304"/>
          </a:xfrm>
          <a:prstGeom prst="ellipse">
            <a:avLst/>
          </a:prstGeom>
          <a:solidFill>
            <a:srgbClr val="69A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4472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7F8FA"/>
                </a:solidFill>
                <a:latin typeface="Aptos"/>
              </a:rPr>
              <a:t>ANNUAL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7947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BEC7D5"/>
                </a:solidFill>
                <a:latin typeface="Aptos"/>
              </a:rPr>
              <a:t>Performances • highlights • school pride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1965960"/>
            <a:ext cx="2651760" cy="2423160"/>
          </a:xfrm>
          <a:prstGeom prst="roundRect">
            <a:avLst/>
          </a:prstGeom>
          <a:solidFill>
            <a:srgbClr val="192233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03320" y="2130552"/>
            <a:ext cx="2322576" cy="1143000"/>
          </a:xfrm>
          <a:prstGeom prst="rect">
            <a:avLst/>
          </a:prstGeom>
          <a:solidFill>
            <a:srgbClr val="2D3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858768" y="2359152"/>
            <a:ext cx="146304" cy="146304"/>
          </a:xfrm>
          <a:prstGeom prst="ellipse">
            <a:avLst/>
          </a:prstGeom>
          <a:solidFill>
            <a:srgbClr val="E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270248" y="2496312"/>
            <a:ext cx="146304" cy="146304"/>
          </a:xfrm>
          <a:prstGeom prst="ellipse">
            <a:avLst/>
          </a:prstGeom>
          <a:solidFill>
            <a:srgbClr val="69A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81728" y="2359152"/>
            <a:ext cx="146304" cy="146304"/>
          </a:xfrm>
          <a:prstGeom prst="ellipse">
            <a:avLst/>
          </a:prstGeom>
          <a:solidFill>
            <a:srgbClr val="66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093208" y="2496312"/>
            <a:ext cx="146304" cy="146304"/>
          </a:xfrm>
          <a:prstGeom prst="ellipse">
            <a:avLst/>
          </a:prstGeom>
          <a:solidFill>
            <a:srgbClr val="E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504688" y="2359152"/>
            <a:ext cx="146304" cy="146304"/>
          </a:xfrm>
          <a:prstGeom prst="ellipse">
            <a:avLst/>
          </a:prstGeom>
          <a:solidFill>
            <a:srgbClr val="69A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21608" y="34472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7F8FA"/>
                </a:solidFill>
                <a:latin typeface="Aptos"/>
              </a:rPr>
              <a:t>GLOW PEACE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7328" y="37947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BEC7D5"/>
                </a:solidFill>
                <a:latin typeface="Aptos"/>
              </a:rPr>
              <a:t>Peace • wellbeing • participation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1965960"/>
            <a:ext cx="2651760" cy="2423160"/>
          </a:xfrm>
          <a:prstGeom prst="roundRect">
            <a:avLst/>
          </a:prstGeom>
          <a:solidFill>
            <a:srgbClr val="192233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79" y="2130552"/>
            <a:ext cx="2322576" cy="1143000"/>
          </a:xfrm>
          <a:prstGeom prst="rect">
            <a:avLst/>
          </a:prstGeom>
          <a:solidFill>
            <a:srgbClr val="353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739127" y="2359152"/>
            <a:ext cx="146304" cy="146304"/>
          </a:xfrm>
          <a:prstGeom prst="ellipse">
            <a:avLst/>
          </a:prstGeom>
          <a:solidFill>
            <a:srgbClr val="E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150607" y="2496312"/>
            <a:ext cx="146304" cy="146304"/>
          </a:xfrm>
          <a:prstGeom prst="ellipse">
            <a:avLst/>
          </a:prstGeom>
          <a:solidFill>
            <a:srgbClr val="69A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562088" y="2359152"/>
            <a:ext cx="146304" cy="146304"/>
          </a:xfrm>
          <a:prstGeom prst="ellipse">
            <a:avLst/>
          </a:prstGeom>
          <a:solidFill>
            <a:srgbClr val="66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973567" y="2496312"/>
            <a:ext cx="146304" cy="146304"/>
          </a:xfrm>
          <a:prstGeom prst="ellipse">
            <a:avLst/>
          </a:prstGeom>
          <a:solidFill>
            <a:srgbClr val="E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385048" y="2359152"/>
            <a:ext cx="146304" cy="146304"/>
          </a:xfrm>
          <a:prstGeom prst="ellipse">
            <a:avLst/>
          </a:prstGeom>
          <a:solidFill>
            <a:srgbClr val="69A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34472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7F8FA"/>
                </a:solidFill>
                <a:latin typeface="Aptos"/>
              </a:rPr>
              <a:t>INVESTITURE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37947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BEC7D5"/>
                </a:solidFill>
                <a:latin typeface="Aptos"/>
              </a:rPr>
              <a:t>Leadership • responsibility • student voice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99448" y="1965960"/>
            <a:ext cx="2651760" cy="2423160"/>
          </a:xfrm>
          <a:prstGeom prst="roundRect">
            <a:avLst/>
          </a:prstGeom>
          <a:solidFill>
            <a:srgbClr val="192233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464040" y="2130552"/>
            <a:ext cx="2322576" cy="1143000"/>
          </a:xfrm>
          <a:prstGeom prst="rect">
            <a:avLst/>
          </a:prstGeom>
          <a:solidFill>
            <a:srgbClr val="3D4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619488" y="2359152"/>
            <a:ext cx="146304" cy="146304"/>
          </a:xfrm>
          <a:prstGeom prst="ellipse">
            <a:avLst/>
          </a:prstGeom>
          <a:solidFill>
            <a:srgbClr val="E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030967" y="2496312"/>
            <a:ext cx="146304" cy="146304"/>
          </a:xfrm>
          <a:prstGeom prst="ellipse">
            <a:avLst/>
          </a:prstGeom>
          <a:solidFill>
            <a:srgbClr val="69A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442448" y="2359152"/>
            <a:ext cx="146304" cy="146304"/>
          </a:xfrm>
          <a:prstGeom prst="ellipse">
            <a:avLst/>
          </a:prstGeom>
          <a:solidFill>
            <a:srgbClr val="66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853928" y="2496312"/>
            <a:ext cx="146304" cy="146304"/>
          </a:xfrm>
          <a:prstGeom prst="ellipse">
            <a:avLst/>
          </a:prstGeom>
          <a:solidFill>
            <a:srgbClr val="E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265408" y="2359152"/>
            <a:ext cx="146304" cy="146304"/>
          </a:xfrm>
          <a:prstGeom prst="ellipse">
            <a:avLst/>
          </a:prstGeom>
          <a:solidFill>
            <a:srgbClr val="69A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82328" y="34472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7F8FA"/>
                </a:solidFill>
                <a:latin typeface="Aptos"/>
              </a:rPr>
              <a:t>FERIYA Y FIESTA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8" y="37947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BEC7D5"/>
                </a:solidFill>
                <a:latin typeface="Aptos"/>
              </a:rPr>
              <a:t>Competitions • creativity • campus energy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9834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BEC7D5"/>
                </a:solidFill>
                <a:latin typeface="Aptos"/>
              </a:rPr>
              <a:t>Photo references found during research: DPS Nacharam official gallery (Feriya Y Fiesta, Investiture, Annual Day and Glow Peace listings).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62356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E2B95C"/>
                </a:solidFill>
                <a:latin typeface="Aptos"/>
              </a:rPr>
              <a:t>Note: graphic panels are illustrative, not original event photographs. Official gallery pages are linked for real imagery.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961888"/>
            <a:ext cx="10607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9A6E2"/>
                </a:solidFill>
                <a:latin typeface="Aptos"/>
              </a:rPr>
              <a:t>dpsnacharam.in/gallery  •  dpsnacharam.in/cbse-gallary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A0AABA"/>
                </a:solidFill>
                <a:latin typeface="Aptos"/>
              </a:rPr>
              <a:t>NITHIN CHAGAM REDDY  /  PORTFOLIO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50040" y="65288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A0AABA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K-INNOVATIVE HUB  /  CAMPAIGN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7F8FA"/>
                </a:solidFill>
                <a:latin typeface="Aptos"/>
              </a:rPr>
              <a:t>Campaigns across schools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BEC7D5"/>
                </a:solidFill>
                <a:latin typeface="Aptos"/>
              </a:rPr>
              <a:t>Event-led storytelling, on-ground coverage and short-form video content.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3584448" cy="1298448"/>
          </a:xfrm>
          <a:prstGeom prst="roundRect">
            <a:avLst/>
          </a:prstGeom>
          <a:solidFill>
            <a:srgbClr val="192233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3584448" cy="64008"/>
          </a:xfrm>
          <a:prstGeom prst="rect">
            <a:avLst/>
          </a:prstGeom>
          <a:solidFill>
            <a:srgbClr val="E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21868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7F8FA"/>
                </a:solidFill>
                <a:latin typeface="Aptos"/>
              </a:rPr>
              <a:t>ANNUAL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2432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Capturing performances, celebrations and school milestones.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965960"/>
            <a:ext cx="3584448" cy="1298448"/>
          </a:xfrm>
          <a:prstGeom prst="roundRect">
            <a:avLst/>
          </a:prstGeom>
          <a:solidFill>
            <a:srgbClr val="192233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53128" y="1965960"/>
            <a:ext cx="3584448" cy="64008"/>
          </a:xfrm>
          <a:prstGeom prst="rect">
            <a:avLst/>
          </a:prstGeom>
          <a:solidFill>
            <a:srgbClr val="69A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8" y="2194560"/>
            <a:ext cx="321868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7F8FA"/>
                </a:solidFill>
                <a:latin typeface="Aptos"/>
              </a:rPr>
              <a:t>GLOW PEACE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62432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Coverage and content around the school’s peace / wellness event.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1896" y="1965960"/>
            <a:ext cx="3584448" cy="1298448"/>
          </a:xfrm>
          <a:prstGeom prst="roundRect">
            <a:avLst/>
          </a:prstGeom>
          <a:solidFill>
            <a:srgbClr val="192233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11896" y="1965960"/>
            <a:ext cx="3584448" cy="64008"/>
          </a:xfrm>
          <a:prstGeom prst="rect">
            <a:avLst/>
          </a:prstGeom>
          <a:solidFill>
            <a:srgbClr val="66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94776" y="2194560"/>
            <a:ext cx="321868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7F8FA"/>
                </a:solidFill>
                <a:latin typeface="Aptos"/>
              </a:rPr>
              <a:t>INVESTITURE CEREMONIES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4776" y="262432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Highlighting student leadership, oath-taking and ceremony moments.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3584448" cy="1298448"/>
          </a:xfrm>
          <a:prstGeom prst="roundRect">
            <a:avLst/>
          </a:prstGeom>
          <a:solidFill>
            <a:srgbClr val="192233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566160"/>
            <a:ext cx="3584448" cy="64008"/>
          </a:xfrm>
          <a:prstGeom prst="rect">
            <a:avLst/>
          </a:prstGeom>
          <a:solidFill>
            <a:srgbClr val="E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0"/>
            <a:ext cx="321868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7F8FA"/>
                </a:solidFill>
                <a:latin typeface="Aptos"/>
              </a:rPr>
              <a:t>FERIYA Y FIESTA — DPS NACHARAM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2452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Multi-day inter-school fest coverage across activities and performances.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3128" y="3566160"/>
            <a:ext cx="3584448" cy="1298448"/>
          </a:xfrm>
          <a:prstGeom prst="roundRect">
            <a:avLst/>
          </a:prstGeom>
          <a:solidFill>
            <a:srgbClr val="192233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53128" y="3566160"/>
            <a:ext cx="3584448" cy="64008"/>
          </a:xfrm>
          <a:prstGeom prst="rect">
            <a:avLst/>
          </a:prstGeom>
          <a:solidFill>
            <a:srgbClr val="69A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8" y="3794760"/>
            <a:ext cx="321868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7F8FA"/>
                </a:solidFill>
                <a:latin typeface="Aptos"/>
              </a:rPr>
              <a:t>SPORTS &amp; SCHOOL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22452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Reels and posts to extend event visibility beyond the campus.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11896" y="3566160"/>
            <a:ext cx="3584448" cy="1298448"/>
          </a:xfrm>
          <a:prstGeom prst="roundRect">
            <a:avLst/>
          </a:prstGeom>
          <a:solidFill>
            <a:srgbClr val="192233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11896" y="3566160"/>
            <a:ext cx="3584448" cy="64008"/>
          </a:xfrm>
          <a:prstGeom prst="rect">
            <a:avLst/>
          </a:prstGeom>
          <a:solidFill>
            <a:srgbClr val="66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94776" y="3794760"/>
            <a:ext cx="321868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7F8FA"/>
                </a:solidFill>
                <a:latin typeface="Aptos"/>
              </a:rPr>
              <a:t>ALWAYS-ON CONTENT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422452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BEC7D5"/>
                </a:solidFill>
                <a:latin typeface="Aptos"/>
              </a:rPr>
              <a:t>Regular content planning, reels and engagement across pages.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62356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BEC7D5"/>
                </a:solidFill>
                <a:latin typeface="Aptos"/>
              </a:rPr>
              <a:t>Official public event references: DPS Nacharam gallery and Feriya Y Fiesta event materials.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925312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9A6E2"/>
                </a:solidFill>
                <a:latin typeface="Aptos"/>
              </a:rPr>
              <a:t>dpsnacharam.in/cbse-gallary  •  fyf.dpsnacharam.com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A0AABA"/>
                </a:solidFill>
                <a:latin typeface="Aptos"/>
              </a:rPr>
              <a:t>NITHIN CHAGAM REDDY  /  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0040" y="65288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A0AABA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BEAA"/>
                </a:solidFill>
                <a:latin typeface="Aptos"/>
              </a:defRPr>
            </a:pPr>
            <a:r>
              <a:t>YUVA BHARAT RUN  /  CAMPAIGN VISUAL SHOWCASE</a:t>
            </a:r>
          </a:p>
        </p:txBody>
      </p:sp>
      <p:pic>
        <p:nvPicPr>
          <p:cNvPr id="4" name="Picture 3" descr="a_wide_infographic_style_promotional_poster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58368"/>
            <a:ext cx="11548872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" y="6245352"/>
            <a:ext cx="11338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B9CA"/>
                </a:solidFill>
                <a:latin typeface="Aptos"/>
              </a:defRPr>
            </a:pPr>
            <a:r>
              <a:t>Illustrative campaign visual — replace with original event photographs for a fully authentic portfolio.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SPECIAL CAMPAIGN  /  YUVA BHARAT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0584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>
                <a:solidFill>
                  <a:srgbClr val="F7F8FA"/>
                </a:solidFill>
                <a:latin typeface="Aptos"/>
              </a:rPr>
              <a:t>Yuva Bharat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BEC7D5"/>
                </a:solidFill>
                <a:latin typeface="Aptos"/>
              </a:rPr>
              <a:t>A large-scale youth and community fitness event in Hyderabad.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4617720" cy="3611880"/>
          </a:xfrm>
          <a:prstGeom prst="roundRect">
            <a:avLst/>
          </a:prstGeom>
          <a:solidFill>
            <a:srgbClr val="192233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" y="2240280"/>
            <a:ext cx="3794760" cy="2468880"/>
          </a:xfrm>
          <a:prstGeom prst="ellipse">
            <a:avLst/>
          </a:prstGeom>
          <a:noFill/>
          <a:ln w="38100">
            <a:solidFill>
              <a:srgbClr val="384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53312" y="2514600"/>
            <a:ext cx="3200400" cy="1920240"/>
          </a:xfrm>
          <a:prstGeom prst="ellipse">
            <a:avLst/>
          </a:prstGeom>
          <a:noFill/>
          <a:ln w="38100">
            <a:solidFill>
              <a:srgbClr val="4D6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64208" y="2788920"/>
            <a:ext cx="2560320" cy="1371600"/>
          </a:xfrm>
          <a:prstGeom prst="ellipse">
            <a:avLst/>
          </a:prstGeom>
          <a:noFill/>
          <a:ln w="38100">
            <a:solidFill>
              <a:srgbClr val="E2B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324612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F7F8FA"/>
                </a:solidFill>
                <a:latin typeface="Aptos"/>
              </a:rPr>
              <a:t>RUN • BOND •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675887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E2B95C"/>
                </a:solidFill>
                <a:latin typeface="Aptos"/>
              </a:rPr>
              <a:t>FITNESS  /  YOUTH  /  COMMUNITY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96596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2B95C"/>
                </a:solidFill>
                <a:latin typeface="Aptos"/>
              </a:rPr>
              <a:t>Campaign focus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2468880"/>
            <a:ext cx="5303520" cy="521207"/>
          </a:xfrm>
          <a:prstGeom prst="roundRect">
            <a:avLst/>
          </a:prstGeom>
          <a:solidFill>
            <a:srgbClr val="1D293C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261518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2B95C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9464"/>
            <a:ext cx="4343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F7F8FA"/>
                </a:solidFill>
                <a:latin typeface="Aptos"/>
              </a:rPr>
              <a:t>Promotional content for a youth-focused community event.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3154680"/>
            <a:ext cx="5303520" cy="521207"/>
          </a:xfrm>
          <a:prstGeom prst="roundRect">
            <a:avLst/>
          </a:prstGeom>
          <a:solidFill>
            <a:srgbClr val="1D293C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330098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2B95C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55264"/>
            <a:ext cx="4343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F7F8FA"/>
                </a:solidFill>
                <a:latin typeface="Aptos"/>
              </a:rPr>
              <a:t>Event storytelling through short-form video and social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3840480"/>
            <a:ext cx="5303520" cy="521207"/>
          </a:xfrm>
          <a:prstGeom prst="roundRect">
            <a:avLst/>
          </a:prstGeom>
          <a:solidFill>
            <a:srgbClr val="1D293C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97880" y="3986783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2B95C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41064"/>
            <a:ext cx="4343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F7F8FA"/>
                </a:solidFill>
                <a:latin typeface="Aptos"/>
              </a:rPr>
              <a:t>Visibility around participation, fitness and community spirit.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4526280"/>
            <a:ext cx="5303520" cy="521207"/>
          </a:xfrm>
          <a:prstGeom prst="roundRect">
            <a:avLst/>
          </a:prstGeom>
          <a:solidFill>
            <a:srgbClr val="1D293C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97880" y="4672583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E2B95C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626864"/>
            <a:ext cx="4343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F7F8FA"/>
                </a:solidFill>
                <a:latin typeface="Aptos"/>
              </a:rPr>
              <a:t>Special presentation and campaign communication support.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BEC7D5"/>
                </a:solidFill>
                <a:latin typeface="Aptos"/>
              </a:rPr>
              <a:t>Public event information: 29 March 2026 • People’s Plaza, Necklace Road, Hyderabad • 500m, 2K and 5K categories.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172200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9A6E2"/>
                </a:solidFill>
                <a:latin typeface="Aptos"/>
              </a:rPr>
              <a:t>Official event website: yuvabharatrun.com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A0AABA"/>
                </a:solidFill>
                <a:latin typeface="Aptos"/>
              </a:rPr>
              <a:t>NITHIN CHAGAM REDDY  / 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50040" y="65288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A0AABA"/>
                </a:solidFill>
                <a:latin typeface="Aptos"/>
              </a:rPr>
              <a:t>19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1143000"/>
            <a:ext cx="3246120" cy="1234440"/>
          </a:xfrm>
          <a:prstGeom prst="roundRect">
            <a:avLst/>
          </a:prstGeom>
          <a:solidFill>
            <a:srgbClr val="F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91440" rIns="109728" rtlCol="0" anchor="ctr"/>
          <a:lstStyle/>
          <a:p>
            <a:pPr algn="ctr">
              <a:defRPr sz="2800" b="1">
                <a:solidFill>
                  <a:srgbClr val="0F182B"/>
                </a:solidFill>
                <a:latin typeface="Aptos Display"/>
              </a:defRPr>
            </a:pPr>
            <a:r>
              <a:t>25,000+</a:t>
            </a:r>
          </a:p>
          <a:p>
            <a:pPr>
              <a:defRPr sz="1200" b="1">
                <a:solidFill>
                  <a:srgbClr val="0F182B"/>
                </a:solidFill>
                <a:latin typeface="Aptos"/>
              </a:defRPr>
            </a:pPr>
            <a:r>
              <a:t>PARTICIPANTS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K-INNOVATIVE HUB  /  OUTPUT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058400" cy="446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IN" sz="2900" b="1" dirty="0" err="1">
                <a:solidFill>
                  <a:srgbClr val="F7F8FA"/>
                </a:solidFill>
                <a:latin typeface="Aptos"/>
              </a:rPr>
              <a:t>Yuva</a:t>
            </a:r>
            <a:r>
              <a:rPr lang="en-IN" sz="2900" b="1" dirty="0">
                <a:solidFill>
                  <a:srgbClr val="F7F8FA"/>
                </a:solidFill>
                <a:latin typeface="Aptos"/>
              </a:rPr>
              <a:t> Bharat Run</a:t>
            </a:r>
            <a:endParaRPr sz="2900" b="1" dirty="0">
              <a:solidFill>
                <a:srgbClr val="F7F8F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BEC7D5"/>
                </a:solidFill>
                <a:latin typeface="Aptos"/>
              </a:rPr>
              <a:t>Portfolio highlights based on the figures provided for this chapter.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120640" cy="2011680"/>
          </a:xfrm>
          <a:prstGeom prst="roundRect">
            <a:avLst/>
          </a:prstGeom>
          <a:solidFill>
            <a:srgbClr val="192233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300" b="1">
                <a:solidFill>
                  <a:srgbClr val="E2B95C"/>
                </a:solidFill>
                <a:latin typeface="Aptos"/>
              </a:rPr>
              <a:t>200+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1012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7F8FA"/>
                </a:solidFill>
                <a:latin typeface="Aptos"/>
              </a:rPr>
              <a:t>INFLUENCERS BROUGHT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8503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BEC7D5"/>
                </a:solidFill>
                <a:latin typeface="Aptos"/>
              </a:rPr>
              <a:t>Coordinated influencer participation across campaigns and brand activity.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57400"/>
            <a:ext cx="5120640" cy="2011680"/>
          </a:xfrm>
          <a:prstGeom prst="roundRect">
            <a:avLst/>
          </a:prstGeom>
          <a:solidFill>
            <a:srgbClr val="192233"/>
          </a:solidFill>
          <a:ln>
            <a:solidFill>
              <a:srgbClr val="3D4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423160"/>
            <a:ext cx="4572000" cy="66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N" sz="4300" b="1" dirty="0">
                <a:solidFill>
                  <a:srgbClr val="69A6E2"/>
                </a:solidFill>
                <a:latin typeface="Aptos"/>
              </a:rPr>
              <a:t>300</a:t>
            </a:r>
            <a:r>
              <a:rPr sz="4300" b="1" dirty="0">
                <a:solidFill>
                  <a:srgbClr val="69A6E2"/>
                </a:solidFill>
                <a:latin typeface="Aptos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1012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7F8FA"/>
                </a:solidFill>
                <a:latin typeface="Aptos"/>
              </a:rPr>
              <a:t>REELS CREATED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68503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BEC7D5"/>
                </a:solidFill>
                <a:latin typeface="Aptos"/>
              </a:rPr>
              <a:t>Short-form video output across school events and brand pages.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2B95C"/>
                </a:solidFill>
                <a:latin typeface="Aptos"/>
              </a:rPr>
              <a:t>Additional contribution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F7F8FA"/>
                </a:solidFill>
                <a:latin typeface="Aptos"/>
              </a:rPr>
              <a:t>Growth and engagement support across the managed pages, alongside event coverage and ongoing content execution.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9788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BEC7D5"/>
                </a:solidFill>
                <a:latin typeface="Aptos"/>
              </a:rPr>
              <a:t>Figures are supplied by Nithin; add platform analytics screenshots if you want the achievements independently evidenced.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A0AABA"/>
                </a:solidFill>
                <a:latin typeface="Aptos"/>
              </a:rPr>
              <a:t>NITHIN CHAGAM REDDY  /  PORTFOLIO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50040" y="65288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A0AABA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49640" y="0"/>
            <a:ext cx="3657600" cy="6858000"/>
          </a:xfrm>
          <a:prstGeom prst="rect">
            <a:avLst/>
          </a:prstGeom>
          <a:solidFill>
            <a:srgbClr val="18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749808" cy="64008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914400"/>
            <a:ext cx="1417320" cy="1417320"/>
          </a:xfrm>
          <a:prstGeom prst="ellipse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44200" y="2240280"/>
            <a:ext cx="566928" cy="566928"/>
          </a:xfrm>
          <a:prstGeom prst="ellipse">
            <a:avLst/>
          </a:prstGeom>
          <a:solidFill>
            <a:srgbClr val="F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2834640"/>
            <a:ext cx="292608" cy="292608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73152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14600"/>
            <a:ext cx="7040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>
                <a:solidFill>
                  <a:srgbClr val="23BEAA"/>
                </a:solidFill>
                <a:latin typeface="Aptos"/>
              </a:rPr>
              <a:t>LET’S CREATE SOMETHING
MEANINGFUL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041648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NITHIN REDDY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517136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ADB9CA"/>
                </a:solidFill>
                <a:latin typeface="Aptos"/>
              </a:rPr>
              <a:t>Social Media Manager  •  Digital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977639"/>
            <a:ext cx="265176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IN" sz="1300" b="1" dirty="0" err="1">
                <a:solidFill>
                  <a:srgbClr val="F0B24C"/>
                </a:solidFill>
                <a:latin typeface="Aptos"/>
              </a:rPr>
              <a:t>Cotact</a:t>
            </a:r>
            <a:r>
              <a:rPr lang="en-IN" sz="1300" b="1" dirty="0">
                <a:solidFill>
                  <a:srgbClr val="F0B24C"/>
                </a:solidFill>
                <a:latin typeface="Aptos"/>
              </a:rPr>
              <a:t> me:</a:t>
            </a:r>
            <a:endParaRPr sz="1300" b="1" dirty="0">
              <a:solidFill>
                <a:srgbClr val="F0B24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06840" y="4526280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ADB9CA"/>
                </a:solidFill>
                <a:latin typeface="Aptos"/>
              </a:rPr>
              <a:t>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477316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9113955857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5358384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ADB9CA"/>
                </a:solidFill>
                <a:latin typeface="Aptos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5605272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nithinreddy370@gmail.com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6172200"/>
            <a:ext cx="7132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ADB9CA"/>
                </a:solidFill>
                <a:latin typeface="Aptos"/>
              </a:rPr>
              <a:t>CONTENT  /  CAMPAIGNS  /  COMMUNITY  / 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644652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ADB9CA"/>
                </a:solidFill>
                <a:latin typeface="Aptos"/>
              </a:rPr>
              <a:t>PORTFOLIO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